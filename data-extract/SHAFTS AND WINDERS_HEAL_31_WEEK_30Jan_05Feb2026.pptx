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1041" r:id="rId5"/>
    <p:sldId id="1042" r:id="rId6"/>
    <p:sldId id="1043" r:id="rId7"/>
    <p:sldId id="1044" r:id="rId8"/>
    <p:sldId id="1045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aft &amp; Winders" id="{22A2C13B-C7AC-4BB1-AAF6-D9A6AE719C11}">
          <p14:sldIdLst>
            <p14:sldId id="1041"/>
            <p14:sldId id="1042"/>
            <p14:sldId id="1043"/>
            <p14:sldId id="1044"/>
            <p14:sldId id="10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CC00"/>
    <a:srgbClr val="1F4E78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006" autoAdjust="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70" y="1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70" y="8829995"/>
            <a:ext cx="3038063" cy="466405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4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2026/02/06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64" tIns="45631" rIns="91264" bIns="45631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4"/>
            <a:ext cx="5608320" cy="3660457"/>
          </a:xfrm>
          <a:prstGeom prst="rect">
            <a:avLst/>
          </a:prstGeom>
        </p:spPr>
        <p:txBody>
          <a:bodyPr vert="horz" lIns="91264" tIns="45631" rIns="91264" bIns="456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8"/>
            <a:ext cx="3037840" cy="466434"/>
          </a:xfrm>
          <a:prstGeom prst="rect">
            <a:avLst/>
          </a:prstGeom>
        </p:spPr>
        <p:txBody>
          <a:bodyPr vert="horz" lIns="91264" tIns="45631" rIns="91264" bIns="45631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C1A8-A4C1-8E5A-FE88-A05CF909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9FFD-9A92-6984-74F2-7AD3D8071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F930E-3C82-4546-1CFB-29FB891A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DC61-E8AA-C082-BDB8-D1C6BEF20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AAE9-BFE1-F92C-D4C3-DD0CB0F4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F8DE0-147E-B4E9-DE40-285C2D17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27DDE-2AAC-41E2-1F07-AC5A7F690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C4475-8654-9FE3-927A-AA4499083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9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0D15-F6EC-FE5F-5E99-79441001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823AA-C767-D897-0EF5-4E41A9309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9C1F5-645C-C737-48C4-5AB1A985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1F8D3-D138-5C08-89C5-28633D44D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46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8B73-AD26-B3B7-DCB5-AD717B06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7A560-FDED-F04C-10B1-D1DF7123E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8BF65-B3E6-068D-5A2F-2D81EA43F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BFABE-B95C-A0C9-C61D-D57250ADA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7417-43F4-E841-B983-6661E56E9A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29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7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0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9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8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0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11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1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3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FE64CDF-0B31-4711-BC74-09D2C78E558B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AD13AC-BFD1-BB60-DBAB-CE645394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363757"/>
              </p:ext>
            </p:extLst>
          </p:nvPr>
        </p:nvGraphicFramePr>
        <p:xfrm>
          <a:off x="0" y="4811530"/>
          <a:ext cx="6736948" cy="2046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574147226"/>
                    </a:ext>
                  </a:extLst>
                </a:gridCol>
              </a:tblGrid>
              <a:tr h="2046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You Can Help By</a:t>
                      </a:r>
                      <a:r>
                        <a:rPr lang="en-ZA" sz="1000" b="1" i="1" u="sng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Adjustments (Package) for Shaft &amp; Winder Personnel to ensure Scares Skills are retained….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Please provide an update on: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 with Winder Permit Rectifications + Winder Exemptions to DMPR….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Discuss and Motivate Memo for Shafts &amp; Winders Services Supervisor Position with EM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Assisting Michael who will be Taking over from Monday the 9</a:t>
                      </a:r>
                      <a:r>
                        <a:rPr lang="en-GB" sz="1000" b="0" i="1" u="none" kern="1200" baseline="3000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th</a:t>
                      </a: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of Feb 2026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GB" sz="1000" b="0" i="1" u="none" kern="1200" baseline="0" dirty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Thank You for </a:t>
                      </a:r>
                      <a:r>
                        <a:rPr lang="en-GB" sz="1000" b="0" i="1" u="none" kern="1200" baseline="0">
                          <a:solidFill>
                            <a:srgbClr val="0070C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Your Support!!!!</a:t>
                      </a:r>
                      <a:endParaRPr lang="en-GB" sz="1000" b="0" i="1" u="none" kern="1200" baseline="0" dirty="0">
                        <a:solidFill>
                          <a:srgbClr val="0070C0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329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DDA4A22-D066-739A-B6E7-578C9AAB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F081B5-AAB4-4865-E044-4B9AE7BA6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982875"/>
              </p:ext>
            </p:extLst>
          </p:nvPr>
        </p:nvGraphicFramePr>
        <p:xfrm>
          <a:off x="0" y="961483"/>
          <a:ext cx="6736946" cy="21853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6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1853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Steady Water supply from Vaal </a:t>
                      </a:r>
                      <a:r>
                        <a:rPr lang="en-GB" sz="1050" b="1" i="1" kern="1200" baseline="0" noProof="0" dirty="0" err="1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Gamagarra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Water Supply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C6C19D-5C72-1840-2588-4898D11E0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7325"/>
              </p:ext>
            </p:extLst>
          </p:nvPr>
        </p:nvGraphicFramePr>
        <p:xfrm>
          <a:off x="-2" y="3201628"/>
          <a:ext cx="6736948" cy="1555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6948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1555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Emerging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  <a:r>
                        <a:rPr lang="en-ZA" sz="120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Issues</a:t>
                      </a:r>
                      <a:r>
                        <a:rPr lang="en-ZA" sz="1050" b="1" i="1" u="sng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 compliment of Fitters and Riggers in Mechanical Section is still putting pressure on the Section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Massive impact of providing full Maintenance of Changehouses of all 3 x Shafts….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5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Additional Low compliment due to: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ZA" sz="1000" b="1" i="1" u="none" kern="1200" baseline="0" dirty="0">
                          <a:solidFill>
                            <a:srgbClr val="FFC000"/>
                          </a:solidFill>
                          <a:latin typeface="Trebuchet MS" panose="020B0603020202020204" pitchFamily="34" charset="0"/>
                          <a:ea typeface="Verdana" pitchFamily="34" charset="0"/>
                        </a:rPr>
                        <a:t>1 x WTF: RFA Related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E2F22E-30F5-4B1E-705A-DF05C07B0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795275"/>
              </p:ext>
            </p:extLst>
          </p:nvPr>
        </p:nvGraphicFramePr>
        <p:xfrm>
          <a:off x="6810998" y="961481"/>
          <a:ext cx="5381002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2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383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Lowlights</a:t>
                      </a:r>
                      <a:r>
                        <a:rPr lang="en-ZA" sz="1050" b="1" i="1" u="sng" kern="1200" baseline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Positions to be filled taking considerable time to complete: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1 x </a:t>
                      </a:r>
                      <a:r>
                        <a:rPr lang="en-GB" sz="1100" b="0" i="1" kern="1200" baseline="0" noProof="0" dirty="0" err="1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WTFitter</a:t>
                      </a: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 @ Head-Hunting Stage: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2. Plumber Contractor currently not on site due to PP360 related issues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FF000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3. Power Outage Experienced during this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1334FE-6FAC-1D66-B618-2FA79F941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09598"/>
              </p:ext>
            </p:extLst>
          </p:nvPr>
        </p:nvGraphicFramePr>
        <p:xfrm>
          <a:off x="6810997" y="4383883"/>
          <a:ext cx="5381003" cy="2474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003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247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Priorities</a:t>
                      </a:r>
                      <a:r>
                        <a:rPr lang="en-ZA" sz="1050" b="1" i="1" u="sng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: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Repair Work with Solrock </a:t>
                      </a:r>
                      <a:r>
                        <a:rPr lang="en-GB" sz="1100" b="0" i="1" kern="1200" baseline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Team_will</a:t>
                      </a:r>
                      <a:r>
                        <a:rPr lang="en-GB" sz="1100" b="0" i="1" kern="1200" baseline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de-establish in Jan2026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Employee Engagement/Resignations Engagement with SGM: Busy with IDP’s sessions with Team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Exam with Machinery Inspector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Shaft Dewatering – Pump </a:t>
                      </a:r>
                      <a:r>
                        <a:rPr lang="en-GB" sz="1100" b="0" i="1" kern="1200" baseline="0" noProof="0" dirty="0" err="1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Test_Scheduled</a:t>
                      </a: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for Jan2026_Revised Date: Feb 2026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DMPR Instruction on Shafts &amp; Winders</a:t>
                      </a:r>
                    </a:p>
                    <a:p>
                      <a:pPr marL="228600" marR="0" lvl="0" indent="-22860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100" b="0" i="1" kern="1200" baseline="0" noProof="0" dirty="0">
                          <a:solidFill>
                            <a:srgbClr val="7030A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Prep for Opportunity Maintenance during Power outage to repair Cap-Banks at Consumer Substation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93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572A-FC63-ED6C-36B9-670F7867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330E5B5-D51D-50F2-1829-0A5AB880199F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4F661ADE-B53A-BCD4-C249-111FC9E87F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A07FF-9DDB-ECDE-6CA9-2FAE6ADE3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A5F8645-2E2F-1874-7AB9-7301F558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21932"/>
              </p:ext>
            </p:extLst>
          </p:nvPr>
        </p:nvGraphicFramePr>
        <p:xfrm>
          <a:off x="-1" y="961481"/>
          <a:ext cx="12191999" cy="345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45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Annual Shaft Schedule on Par (Next 2 x Slides)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D2193E-1329-0BCE-1AD2-41117603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47744"/>
              </p:ext>
            </p:extLst>
          </p:nvPr>
        </p:nvGraphicFramePr>
        <p:xfrm>
          <a:off x="-1" y="1352732"/>
          <a:ext cx="2667000" cy="1093470"/>
        </p:xfrm>
        <a:graphic>
          <a:graphicData uri="http://schemas.openxmlformats.org/drawingml/2006/table">
            <a:tbl>
              <a:tblPr/>
              <a:tblGrid>
                <a:gridCol w="322241">
                  <a:extLst>
                    <a:ext uri="{9D8B030D-6E8A-4147-A177-3AD203B41FA5}">
                      <a16:colId xmlns:a16="http://schemas.microsoft.com/office/drawing/2014/main" val="4012735606"/>
                    </a:ext>
                  </a:extLst>
                </a:gridCol>
                <a:gridCol w="2344759">
                  <a:extLst>
                    <a:ext uri="{9D8B030D-6E8A-4147-A177-3AD203B41FA5}">
                      <a16:colId xmlns:a16="http://schemas.microsoft.com/office/drawing/2014/main" val="25944693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JAN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9382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273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4544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7472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93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DD68F-DAB6-8B05-1AA4-F91CDF899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66636"/>
              </p:ext>
            </p:extLst>
          </p:nvPr>
        </p:nvGraphicFramePr>
        <p:xfrm>
          <a:off x="2666999" y="1352732"/>
          <a:ext cx="2781300" cy="200406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1337798325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2153843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FEB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912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80933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3589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71732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57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84629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42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51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NCH2_3-7LVL_CHUTE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772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3B40EF-ED04-3586-C7F0-530D324AE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15983"/>
              </p:ext>
            </p:extLst>
          </p:nvPr>
        </p:nvGraphicFramePr>
        <p:xfrm>
          <a:off x="5448299" y="1352732"/>
          <a:ext cx="2476500" cy="3825240"/>
        </p:xfrm>
        <a:graphic>
          <a:graphicData uri="http://schemas.openxmlformats.org/drawingml/2006/table">
            <a:tbl>
              <a:tblPr/>
              <a:tblGrid>
                <a:gridCol w="392033">
                  <a:extLst>
                    <a:ext uri="{9D8B030D-6E8A-4147-A177-3AD203B41FA5}">
                      <a16:colId xmlns:a16="http://schemas.microsoft.com/office/drawing/2014/main" val="2335362085"/>
                    </a:ext>
                  </a:extLst>
                </a:gridCol>
                <a:gridCol w="2084467">
                  <a:extLst>
                    <a:ext uri="{9D8B030D-6E8A-4147-A177-3AD203B41FA5}">
                      <a16:colId xmlns:a16="http://schemas.microsoft.com/office/drawing/2014/main" val="8229708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MARCH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440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0155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36881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8279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66077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643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8126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127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3892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9129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0128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0498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988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9382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33788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34707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35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7CD1B7-4A21-2B9E-489A-94C7119B9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92354"/>
              </p:ext>
            </p:extLst>
          </p:nvPr>
        </p:nvGraphicFramePr>
        <p:xfrm>
          <a:off x="7924798" y="1352732"/>
          <a:ext cx="3315857" cy="5505264"/>
        </p:xfrm>
        <a:graphic>
          <a:graphicData uri="http://schemas.openxmlformats.org/drawingml/2006/table">
            <a:tbl>
              <a:tblPr/>
              <a:tblGrid>
                <a:gridCol w="408667">
                  <a:extLst>
                    <a:ext uri="{9D8B030D-6E8A-4147-A177-3AD203B41FA5}">
                      <a16:colId xmlns:a16="http://schemas.microsoft.com/office/drawing/2014/main" val="2052941775"/>
                    </a:ext>
                  </a:extLst>
                </a:gridCol>
                <a:gridCol w="2907190">
                  <a:extLst>
                    <a:ext uri="{9D8B030D-6E8A-4147-A177-3AD203B41FA5}">
                      <a16:colId xmlns:a16="http://schemas.microsoft.com/office/drawing/2014/main" val="2831586568"/>
                    </a:ext>
                  </a:extLst>
                </a:gridCol>
              </a:tblGrid>
              <a:tr h="1783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800" b="1" i="0" u="none" strike="noStrike">
                          <a:effectLst/>
                          <a:latin typeface="Arial Narrow" panose="020B0606020202030204" pitchFamily="34" charset="0"/>
                        </a:rPr>
                        <a:t>APRIL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6845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62096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638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92233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2679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138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NCH2_REMOVE OLD CABLES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12335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0375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352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3601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01527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57845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843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650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1184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8119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387893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68718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142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73903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22060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84622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26477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08232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NCH2_RW_ANNUAL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08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8D64-9986-90EE-C313-ECD80D0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C56596A3-DB6F-903A-66AA-B7D797FEDAD6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D0AA8554-8218-61CA-83B0-84863D1C246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ADAC2B-98FA-3BAE-B0CB-B32B9AE30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FADA92-8DA0-96FA-1A13-EC81EC09E3A0}"/>
              </a:ext>
            </a:extLst>
          </p:cNvPr>
          <p:cNvGraphicFramePr>
            <a:graphicFrameLocks noGrp="1"/>
          </p:cNvGraphicFramePr>
          <p:nvPr/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1B5897-C66B-DCDA-D76F-021153AA4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25076"/>
              </p:ext>
            </p:extLst>
          </p:nvPr>
        </p:nvGraphicFramePr>
        <p:xfrm>
          <a:off x="0" y="1622814"/>
          <a:ext cx="2641600" cy="63817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47262473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428666644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4988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120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438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9FD156-4E49-1038-1700-BFE83D936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6660"/>
              </p:ext>
            </p:extLst>
          </p:nvPr>
        </p:nvGraphicFramePr>
        <p:xfrm>
          <a:off x="2641600" y="1622814"/>
          <a:ext cx="2641600" cy="2459355"/>
        </p:xfrm>
        <a:graphic>
          <a:graphicData uri="http://schemas.openxmlformats.org/drawingml/2006/table">
            <a:tbl>
              <a:tblPr/>
              <a:tblGrid>
                <a:gridCol w="390995">
                  <a:extLst>
                    <a:ext uri="{9D8B030D-6E8A-4147-A177-3AD203B41FA5}">
                      <a16:colId xmlns:a16="http://schemas.microsoft.com/office/drawing/2014/main" val="3886463429"/>
                    </a:ext>
                  </a:extLst>
                </a:gridCol>
                <a:gridCol w="2250605">
                  <a:extLst>
                    <a:ext uri="{9D8B030D-6E8A-4147-A177-3AD203B41FA5}">
                      <a16:colId xmlns:a16="http://schemas.microsoft.com/office/drawing/2014/main" val="2123306569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8152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3446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01002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10311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18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94128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4091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73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NCH2_RW_STATICS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05406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11906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32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8678D8-9DAD-8BB5-E21E-F904598D3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853220"/>
              </p:ext>
            </p:extLst>
          </p:nvPr>
        </p:nvGraphicFramePr>
        <p:xfrm>
          <a:off x="5283200" y="1622814"/>
          <a:ext cx="2844800" cy="1093470"/>
        </p:xfrm>
        <a:graphic>
          <a:graphicData uri="http://schemas.openxmlformats.org/drawingml/2006/table">
            <a:tbl>
              <a:tblPr/>
              <a:tblGrid>
                <a:gridCol w="321609">
                  <a:extLst>
                    <a:ext uri="{9D8B030D-6E8A-4147-A177-3AD203B41FA5}">
                      <a16:colId xmlns:a16="http://schemas.microsoft.com/office/drawing/2014/main" val="2207417383"/>
                    </a:ext>
                  </a:extLst>
                </a:gridCol>
                <a:gridCol w="2523191">
                  <a:extLst>
                    <a:ext uri="{9D8B030D-6E8A-4147-A177-3AD203B41FA5}">
                      <a16:colId xmlns:a16="http://schemas.microsoft.com/office/drawing/2014/main" val="3399687068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JULY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6711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260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10133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94723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09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A05058-611E-416F-B4B2-F3FC7840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69288"/>
              </p:ext>
            </p:extLst>
          </p:nvPr>
        </p:nvGraphicFramePr>
        <p:xfrm>
          <a:off x="8128000" y="1622813"/>
          <a:ext cx="2844800" cy="638175"/>
        </p:xfrm>
        <a:graphic>
          <a:graphicData uri="http://schemas.openxmlformats.org/drawingml/2006/table">
            <a:tbl>
              <a:tblPr/>
              <a:tblGrid>
                <a:gridCol w="391399">
                  <a:extLst>
                    <a:ext uri="{9D8B030D-6E8A-4147-A177-3AD203B41FA5}">
                      <a16:colId xmlns:a16="http://schemas.microsoft.com/office/drawing/2014/main" val="81376411"/>
                    </a:ext>
                  </a:extLst>
                </a:gridCol>
                <a:gridCol w="2453401">
                  <a:extLst>
                    <a:ext uri="{9D8B030D-6E8A-4147-A177-3AD203B41FA5}">
                      <a16:colId xmlns:a16="http://schemas.microsoft.com/office/drawing/2014/main" val="141912598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AUG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3496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99298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9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6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AFBD0-AA5A-2B8A-CC26-521FAC10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4F1CA407-CA9E-B67F-0B46-41EFD4068ED1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59E993F0-D6A0-663C-001D-4993697D9C4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3FF2C-6E3C-6795-2CB4-AA0960730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48CADD8-8843-3B74-BEEE-DA05E314E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20406"/>
              </p:ext>
            </p:extLst>
          </p:nvPr>
        </p:nvGraphicFramePr>
        <p:xfrm>
          <a:off x="-1" y="961481"/>
          <a:ext cx="12191999" cy="617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617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Annual Shaft Schedule on Par (Next Slide)_Depicting upcoming work for Nov2025 &amp; Dec2025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93FD54-A248-EBDF-AD0E-9F6BC45DF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54039"/>
              </p:ext>
            </p:extLst>
          </p:nvPr>
        </p:nvGraphicFramePr>
        <p:xfrm>
          <a:off x="0" y="1622813"/>
          <a:ext cx="2641600" cy="2033233"/>
        </p:xfrm>
        <a:graphic>
          <a:graphicData uri="http://schemas.openxmlformats.org/drawingml/2006/table">
            <a:tbl>
              <a:tblPr/>
              <a:tblGrid>
                <a:gridCol w="388192">
                  <a:extLst>
                    <a:ext uri="{9D8B030D-6E8A-4147-A177-3AD203B41FA5}">
                      <a16:colId xmlns:a16="http://schemas.microsoft.com/office/drawing/2014/main" val="3297222944"/>
                    </a:ext>
                  </a:extLst>
                </a:gridCol>
                <a:gridCol w="2253408">
                  <a:extLst>
                    <a:ext uri="{9D8B030D-6E8A-4147-A177-3AD203B41FA5}">
                      <a16:colId xmlns:a16="http://schemas.microsoft.com/office/drawing/2014/main" val="951720031"/>
                    </a:ext>
                  </a:extLst>
                </a:gridCol>
              </a:tblGrid>
              <a:tr h="18315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SEP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3517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987502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15539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39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58020"/>
                  </a:ext>
                </a:extLst>
              </a:tr>
              <a:tr h="17552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761574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238384"/>
                  </a:ext>
                </a:extLst>
              </a:tr>
              <a:tr h="201678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422908"/>
                  </a:ext>
                </a:extLst>
              </a:tr>
              <a:tr h="280457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3331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2A6A78-3862-1D62-AAD1-6E21FCA16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70801"/>
              </p:ext>
            </p:extLst>
          </p:nvPr>
        </p:nvGraphicFramePr>
        <p:xfrm>
          <a:off x="2643336" y="1622813"/>
          <a:ext cx="2527300" cy="4374014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OCT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10904"/>
                  </a:ext>
                </a:extLst>
              </a:tr>
              <a:tr h="196796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0696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8745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06146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0629"/>
                  </a:ext>
                </a:extLst>
              </a:tr>
              <a:tr h="191602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629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NCH2_RW_MRT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32CB9C-B3F8-2DA0-7294-EC55749F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35503"/>
              </p:ext>
            </p:extLst>
          </p:nvPr>
        </p:nvGraphicFramePr>
        <p:xfrm>
          <a:off x="5170636" y="1622813"/>
          <a:ext cx="2527300" cy="2964536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N</a:t>
                      </a:r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OV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NCH2_REPL_BUNTON 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148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4235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637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559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79532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19662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8807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EF9EA1-6081-408A-AB5A-982CB46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22013"/>
              </p:ext>
            </p:extLst>
          </p:nvPr>
        </p:nvGraphicFramePr>
        <p:xfrm>
          <a:off x="7697936" y="1622813"/>
          <a:ext cx="2527300" cy="3300170"/>
        </p:xfrm>
        <a:graphic>
          <a:graphicData uri="http://schemas.openxmlformats.org/drawingml/2006/table">
            <a:tbl>
              <a:tblPr/>
              <a:tblGrid>
                <a:gridCol w="391016">
                  <a:extLst>
                    <a:ext uri="{9D8B030D-6E8A-4147-A177-3AD203B41FA5}">
                      <a16:colId xmlns:a16="http://schemas.microsoft.com/office/drawing/2014/main" val="2014603202"/>
                    </a:ext>
                  </a:extLst>
                </a:gridCol>
                <a:gridCol w="2136284">
                  <a:extLst>
                    <a:ext uri="{9D8B030D-6E8A-4147-A177-3AD203B41FA5}">
                      <a16:colId xmlns:a16="http://schemas.microsoft.com/office/drawing/2014/main" val="366055173"/>
                    </a:ext>
                  </a:extLst>
                </a:gridCol>
              </a:tblGrid>
              <a:tr h="1868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DEC</a:t>
                      </a:r>
                      <a:endParaRPr lang="en-ZA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24827"/>
                  </a:ext>
                </a:extLst>
              </a:tr>
              <a:tr h="179049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945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NCH3_PW_LVL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6845"/>
                  </a:ext>
                </a:extLst>
              </a:tr>
              <a:tr h="183414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20762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85427"/>
                  </a:ext>
                </a:extLst>
              </a:tr>
              <a:tr h="200876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6102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GL_PW_LVL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695216"/>
                  </a:ext>
                </a:extLst>
              </a:tr>
              <a:tr h="192146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56391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NCH2_RW_LVL 1 AUDIT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62044"/>
                  </a:ext>
                </a:extLst>
              </a:tr>
              <a:tr h="194619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16882"/>
                  </a:ext>
                </a:extLst>
              </a:tr>
              <a:tr h="435016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NCH2_SHAFT WORK_BUNTONS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69988"/>
                  </a:ext>
                </a:extLst>
              </a:tr>
              <a:tr h="194619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32573"/>
                  </a:ext>
                </a:extLst>
              </a:tr>
              <a:tr h="381453">
                <a:tc>
                  <a:txBody>
                    <a:bodyPr/>
                    <a:lstStyle/>
                    <a:p>
                      <a:pPr algn="ctr" fontAlgn="ctr"/>
                      <a:endParaRPr lang="en-ZA" sz="1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NCH2_SILO TOP_REPLACE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46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45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4F4A-A479-804D-85E8-2BE66A50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4">
            <a:extLst>
              <a:ext uri="{FF2B5EF4-FFF2-40B4-BE49-F238E27FC236}">
                <a16:creationId xmlns:a16="http://schemas.microsoft.com/office/drawing/2014/main" id="{BE7969C0-B3DF-E258-1ABE-5DC062310755}"/>
              </a:ext>
            </a:extLst>
          </p:cNvPr>
          <p:cNvSpPr txBox="1">
            <a:spLocks/>
          </p:cNvSpPr>
          <p:nvPr/>
        </p:nvSpPr>
        <p:spPr>
          <a:xfrm>
            <a:off x="1246884" y="94584"/>
            <a:ext cx="1051560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 b="1"/>
            </a:lvl1pPr>
          </a:lstStyle>
          <a:p>
            <a:r>
              <a:rPr lang="en-GB" dirty="0"/>
              <a:t>SHAFTS &amp; WINDERS_HEAL</a:t>
            </a:r>
          </a:p>
        </p:txBody>
      </p:sp>
      <p:pic>
        <p:nvPicPr>
          <p:cNvPr id="5" name="Picture 4" descr="Logo - Black Rock Mine Operations">
            <a:extLst>
              <a:ext uri="{FF2B5EF4-FFF2-40B4-BE49-F238E27FC236}">
                <a16:creationId xmlns:a16="http://schemas.microsoft.com/office/drawing/2014/main" id="{389A037C-2B0E-23CC-6440-08DD53D9B6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" y="94584"/>
            <a:ext cx="1329569" cy="796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F40A06-6A54-951B-08C0-F8E6C1E06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604" y="0"/>
            <a:ext cx="624396" cy="94049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93450E7-6660-20F1-5DC1-F06D3401E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12673"/>
              </p:ext>
            </p:extLst>
          </p:nvPr>
        </p:nvGraphicFramePr>
        <p:xfrm>
          <a:off x="-1" y="961481"/>
          <a:ext cx="12191999" cy="345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4281809787"/>
                    </a:ext>
                  </a:extLst>
                </a:gridCol>
              </a:tblGrid>
              <a:tr h="345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1" i="1" u="sng" kern="1200" baseline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Highlights:</a:t>
                      </a:r>
                      <a:r>
                        <a:rPr lang="en-GB" sz="1050" b="1" i="1" kern="1200" baseline="0" noProof="0" dirty="0">
                          <a:solidFill>
                            <a:srgbClr val="00B050"/>
                          </a:solidFill>
                          <a:latin typeface="Trebuchet MS" panose="020B0603020202020204" pitchFamily="34" charset="0"/>
                          <a:ea typeface="Verdana" pitchFamily="34" charset="0"/>
                          <a:cs typeface="Verdana" pitchFamily="34" charset="0"/>
                        </a:rPr>
                        <a:t> Annual Shaft Schedule 2026</a:t>
                      </a:r>
                      <a:endParaRPr lang="en-GB" sz="1050" b="0" i="1" kern="1200" baseline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84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B48CE6-BA71-5E44-438D-8980ABE83F8D}"/>
              </a:ext>
            </a:extLst>
          </p:cNvPr>
          <p:cNvGraphicFramePr>
            <a:graphicFrameLocks noGrp="1"/>
          </p:cNvGraphicFramePr>
          <p:nvPr/>
        </p:nvGraphicFramePr>
        <p:xfrm>
          <a:off x="-1" y="1352732"/>
          <a:ext cx="2667000" cy="1093470"/>
        </p:xfrm>
        <a:graphic>
          <a:graphicData uri="http://schemas.openxmlformats.org/drawingml/2006/table">
            <a:tbl>
              <a:tblPr/>
              <a:tblGrid>
                <a:gridCol w="322241">
                  <a:extLst>
                    <a:ext uri="{9D8B030D-6E8A-4147-A177-3AD203B41FA5}">
                      <a16:colId xmlns:a16="http://schemas.microsoft.com/office/drawing/2014/main" val="4012735606"/>
                    </a:ext>
                  </a:extLst>
                </a:gridCol>
                <a:gridCol w="2344759">
                  <a:extLst>
                    <a:ext uri="{9D8B030D-6E8A-4147-A177-3AD203B41FA5}">
                      <a16:colId xmlns:a16="http://schemas.microsoft.com/office/drawing/2014/main" val="25944693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 dirty="0">
                          <a:effectLst/>
                          <a:latin typeface="Arial Narrow" panose="020B0606020202030204" pitchFamily="34" charset="0"/>
                        </a:rPr>
                        <a:t>JAN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9382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273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4544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7472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934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668DF8-A411-CEA8-11F4-13CF66330F9C}"/>
              </a:ext>
            </a:extLst>
          </p:cNvPr>
          <p:cNvGraphicFramePr>
            <a:graphicFrameLocks noGrp="1"/>
          </p:cNvGraphicFramePr>
          <p:nvPr/>
        </p:nvGraphicFramePr>
        <p:xfrm>
          <a:off x="2666999" y="1352732"/>
          <a:ext cx="2781300" cy="2004060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1337798325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2153843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FEB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912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80933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3589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71732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NCH3_PW_BE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578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84629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242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5144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NCH2_3-7LVL_CHUTE LINERS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772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EEE22F-8C92-11FE-B67B-563639D6CABD}"/>
              </a:ext>
            </a:extLst>
          </p:cNvPr>
          <p:cNvGraphicFramePr>
            <a:graphicFrameLocks noGrp="1"/>
          </p:cNvGraphicFramePr>
          <p:nvPr/>
        </p:nvGraphicFramePr>
        <p:xfrm>
          <a:off x="5448299" y="1352732"/>
          <a:ext cx="2476500" cy="3825240"/>
        </p:xfrm>
        <a:graphic>
          <a:graphicData uri="http://schemas.openxmlformats.org/drawingml/2006/table">
            <a:tbl>
              <a:tblPr/>
              <a:tblGrid>
                <a:gridCol w="392033">
                  <a:extLst>
                    <a:ext uri="{9D8B030D-6E8A-4147-A177-3AD203B41FA5}">
                      <a16:colId xmlns:a16="http://schemas.microsoft.com/office/drawing/2014/main" val="2335362085"/>
                    </a:ext>
                  </a:extLst>
                </a:gridCol>
                <a:gridCol w="2084467">
                  <a:extLst>
                    <a:ext uri="{9D8B030D-6E8A-4147-A177-3AD203B41FA5}">
                      <a16:colId xmlns:a16="http://schemas.microsoft.com/office/drawing/2014/main" val="82297086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1100" b="1" i="0" u="none" strike="noStrike">
                          <a:effectLst/>
                          <a:latin typeface="Arial Narrow" panose="020B0606020202030204" pitchFamily="34" charset="0"/>
                        </a:rPr>
                        <a:t>MARCH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4403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0155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NCH2_SHAFT_GUIDE REPL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36881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8279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66077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643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8126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127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NCH2_RW_FE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3892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91298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NCH2_PW_DYNAMICS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0128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10498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NCH3_PW_DYNAMICS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988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9382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GL_PW_DYNAMICS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33788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34707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1200" b="1" i="0" u="none" strike="noStrike" dirty="0">
                          <a:effectLst/>
                          <a:latin typeface="Arial" panose="020B0604020202020204" pitchFamily="34" charset="0"/>
                        </a:rPr>
                        <a:t>NCH2_RW_DYNAMICS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3502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5DC786D-D5DD-D5E1-DA02-81F3A6CFD826}"/>
              </a:ext>
            </a:extLst>
          </p:cNvPr>
          <p:cNvGraphicFramePr>
            <a:graphicFrameLocks noGrp="1"/>
          </p:cNvGraphicFramePr>
          <p:nvPr/>
        </p:nvGraphicFramePr>
        <p:xfrm>
          <a:off x="7924798" y="1352732"/>
          <a:ext cx="3315857" cy="5505264"/>
        </p:xfrm>
        <a:graphic>
          <a:graphicData uri="http://schemas.openxmlformats.org/drawingml/2006/table">
            <a:tbl>
              <a:tblPr/>
              <a:tblGrid>
                <a:gridCol w="408667">
                  <a:extLst>
                    <a:ext uri="{9D8B030D-6E8A-4147-A177-3AD203B41FA5}">
                      <a16:colId xmlns:a16="http://schemas.microsoft.com/office/drawing/2014/main" val="2052941775"/>
                    </a:ext>
                  </a:extLst>
                </a:gridCol>
                <a:gridCol w="2907190">
                  <a:extLst>
                    <a:ext uri="{9D8B030D-6E8A-4147-A177-3AD203B41FA5}">
                      <a16:colId xmlns:a16="http://schemas.microsoft.com/office/drawing/2014/main" val="2831586568"/>
                    </a:ext>
                  </a:extLst>
                </a:gridCol>
              </a:tblGrid>
              <a:tr h="1783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ZA" sz="800" b="1" i="0" u="none" strike="noStrike">
                          <a:effectLst/>
                          <a:latin typeface="Arial Narrow" panose="020B0606020202030204" pitchFamily="34" charset="0"/>
                        </a:rPr>
                        <a:t>APRIL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6845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62096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EMT's/MRT's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638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92233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DECEL TESTS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22679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138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NCH2_REMOVE OLD CABLES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12335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0375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NCH2_3-7LVL_LDB LINERS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352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3601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01527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57845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84341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65083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1184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8119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NCH2_RW_ANNUAL MHE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387893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68718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NCH2_PW_ANNUAL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14256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739039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NCH3_PW_ANNUAL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522060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84622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GL_PW_ANNUAL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264772"/>
                  </a:ext>
                </a:extLst>
              </a:tr>
              <a:tr h="170879">
                <a:tc>
                  <a:txBody>
                    <a:bodyPr/>
                    <a:lstStyle/>
                    <a:p>
                      <a:pPr algn="l" fontAlgn="ctr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ZA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2" marR="5872" marT="587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082321"/>
                  </a:ext>
                </a:extLst>
              </a:tr>
              <a:tr h="273034"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ZA" sz="900" b="1" i="0" u="none" strike="noStrike" dirty="0">
                          <a:effectLst/>
                          <a:latin typeface="Arial" panose="020B0604020202020204" pitchFamily="34" charset="0"/>
                        </a:rPr>
                        <a:t>NCH2_RW_ANNUAL EHE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73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38C0E7CDA6214984C77AA1B94F6B03" ma:contentTypeVersion="13" ma:contentTypeDescription="Create a new document." ma:contentTypeScope="" ma:versionID="6dedba3ec9fce0a8d971f33b5feccc9c">
  <xsd:schema xmlns:xsd="http://www.w3.org/2001/XMLSchema" xmlns:xs="http://www.w3.org/2001/XMLSchema" xmlns:p="http://schemas.microsoft.com/office/2006/metadata/properties" xmlns:ns3="b40dc006-a3f3-4d89-9e0a-bdb5fef8a087" xmlns:ns4="7292bd35-a1a6-4f41-92a3-d00a40427327" targetNamespace="http://schemas.microsoft.com/office/2006/metadata/properties" ma:root="true" ma:fieldsID="6fa91f4c09f4356fdc23a54a4779b4da" ns3:_="" ns4:_="">
    <xsd:import namespace="b40dc006-a3f3-4d89-9e0a-bdb5fef8a087"/>
    <xsd:import namespace="7292bd35-a1a6-4f41-92a3-d00a404273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0dc006-a3f3-4d89-9e0a-bdb5fef8a0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2bd35-a1a6-4f41-92a3-d00a40427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0dc006-a3f3-4d89-9e0a-bdb5fef8a087" xsi:nil="true"/>
  </documentManagement>
</p:properties>
</file>

<file path=customXml/itemProps1.xml><?xml version="1.0" encoding="utf-8"?>
<ds:datastoreItem xmlns:ds="http://schemas.openxmlformats.org/officeDocument/2006/customXml" ds:itemID="{E8E1E25F-AF8A-4A48-9314-56EE4861EF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205387-FB2F-4151-9B2B-9A9829111F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0dc006-a3f3-4d89-9e0a-bdb5fef8a087"/>
    <ds:schemaRef ds:uri="7292bd35-a1a6-4f41-92a3-d00a40427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A311CE-B80B-4692-8469-C4624795F9DE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b40dc006-a3f3-4d89-9e0a-bdb5fef8a087"/>
    <ds:schemaRef ds:uri="http://purl.org/dc/dcmitype/"/>
    <ds:schemaRef ds:uri="http://schemas.microsoft.com/office/2006/metadata/properties"/>
    <ds:schemaRef ds:uri="http://schemas.microsoft.com/office/infopath/2007/PartnerControls"/>
    <ds:schemaRef ds:uri="7292bd35-a1a6-4f41-92a3-d00a4042732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59252</TotalTime>
  <Words>853</Words>
  <Application>Microsoft Office PowerPoint</Application>
  <PresentationFormat>Widescreen</PresentationFormat>
  <Paragraphs>224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Trebuchet MS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Xavier Petersen</cp:lastModifiedBy>
  <cp:revision>1430</cp:revision>
  <cp:lastPrinted>2023-09-11T05:07:00Z</cp:lastPrinted>
  <dcterms:created xsi:type="dcterms:W3CDTF">2019-02-12T06:39:46Z</dcterms:created>
  <dcterms:modified xsi:type="dcterms:W3CDTF">2026-02-06T03:47:32Z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0x010100B738C0E7CDA6214984C77AA1B94F6B03</vt:lpwstr>
  </property>
</Properties>
</file>