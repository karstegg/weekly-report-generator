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Engineering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0" y="548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</a:t>
            </a:r>
            <a:endParaRPr lang="en-US" sz="2200" dirty="0"/>
          </a:p>
          <a:p>
            <a:pPr algn="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January - 05 February 2026</a:t>
            </a:r>
            <a:endParaRPr lang="en-US" sz="2200" dirty="0"/>
          </a:p>
        </p:txBody>
      </p:sp>
      <p:pic>
        <p:nvPicPr>
          <p:cNvPr id="4" name="Image 0" descr="/home/user/weekly-report-generator/public/images/AD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840480" cy="2103120"/>
          </a:xfrm>
          <a:prstGeom prst="rect">
            <a:avLst/>
          </a:prstGeom>
        </p:spPr>
      </p:pic>
      <p:pic>
        <p:nvPicPr>
          <p:cNvPr id="5" name="Image 1" descr="/home/user/weekly-report-generator/public/images/ST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840480" cy="2103120"/>
          </a:xfrm>
          <a:prstGeom prst="rect">
            <a:avLst/>
          </a:prstGeom>
        </p:spPr>
      </p:pic>
      <p:pic>
        <p:nvPicPr>
          <p:cNvPr id="6" name="Image 2" descr="/home/user/weekly-report-generator/public/images/S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3840480" cy="2103120"/>
          </a:xfrm>
          <a:prstGeom prst="rect">
            <a:avLst/>
          </a:prstGeom>
        </p:spPr>
      </p:pic>
      <p:pic>
        <p:nvPicPr>
          <p:cNvPr id="7" name="Image 3" descr="/home/user/weekly-report-generator/public/images/Win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77640"/>
            <a:ext cx="3840480" cy="2103120"/>
          </a:xfrm>
          <a:prstGeom prst="rect">
            <a:avLst/>
          </a:prstGeom>
        </p:spPr>
      </p:pic>
      <p:pic>
        <p:nvPicPr>
          <p:cNvPr id="8" name="Image 4" descr="/home/user/weekly-report-generator/public/images/Foo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463040" y="182880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892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57400" y="184708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Overview (HEAL)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239572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459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241401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Shafts &amp; Winders Performance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463040" y="296265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266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298094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 Performance Overview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463040" y="352958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5935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35478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Nchwaning 2 Performance Overview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463040" y="40965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4114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Nchwaning 3 Performance Overview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463040" y="46634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727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57400" y="468172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Performance Overview</a:t>
            </a:r>
            <a:endParaRPr lang="en-US" sz="2200" dirty="0"/>
          </a:p>
        </p:txBody>
      </p:sp>
      <p:pic>
        <p:nvPicPr>
          <p:cNvPr id="21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OVERVIEW (HEAL)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46220" cy="1965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6347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CV055 chute repairs and hot splice done successfully.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Conveyor Watch completed scanning all steel cord belts.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TMM availability improved to 89%.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Improved HDs availability for the week.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[N3] Good scaler availabilities. Plant upgrade: 55CV01 motor to 45kW enabling 650 tph.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32020" y="1097280"/>
            <a:ext cx="4046220" cy="1965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118872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Lowlights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60620" y="1554480"/>
            <a:ext cx="36347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Diverter chute stuck between HG and LG silos.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CV0051 - 50mm conveyor damaged from side, rolled around tail pulley.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DTs availability 75% - Waiting Barloworld to assist.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Still charging two UVs; UV108 repairs in progress, completion moved to 11 Feb.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DT121 still standing with no clear indication of when OEM will assist.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[N3] Poor HD/RT availability due to CAS L9 issues.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4046220" cy="196596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7472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Issues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36347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Stores stock level raising concern - most spares not available but shows stock on system.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Repetitive breakdown on HD53 on a prop shaft.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Service at drill shop not effective due to consumables shortage.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2020" y="3383280"/>
            <a:ext cx="4046220" cy="1965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4900" y="347472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60620" y="3840480"/>
            <a:ext cx="36347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74N tip liners to be repaired.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Conveyor Watch to submit splice condition report.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[Gloria] Commission surface compressor.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Drive actions on Engineers action tracker.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[N2] Changes on program for UV108 to be done next week.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[N3] DT0172 to be commissioned in place of DT0171.</a:t>
            </a:r>
            <a:endParaRPr lang="en-US" sz="1200" dirty="0"/>
          </a:p>
        </p:txBody>
      </p:sp>
      <p:pic>
        <p:nvPicPr>
          <p:cNvPr id="15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Shafts &amp; Winders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Tons/Hr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0" y="1097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389888"/>
            <a:ext cx="731520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89888"/>
            <a:ext cx="7315200" cy="25603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807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RW Availability (%)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12848"/>
            <a:ext cx="731520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212848"/>
            <a:ext cx="7315200" cy="25603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037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46220" cy="10972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36347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water supply from Vaal Gamagarra Water Supply.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32020" y="2834640"/>
            <a:ext cx="404622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4900" y="292608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Lowlights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60620" y="3291840"/>
            <a:ext cx="36347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to be filled taking considerable time: 1x WTFitter @ Head-Hunting Stage.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Contractor not on site due to PP360 related issues.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outage experienced during the week.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4046220" cy="10972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4340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Issues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4709160"/>
            <a:ext cx="36347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compliment of Fitters and Riggers in Mechanical Section putting pressure on the Section.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impact of providing full maintenance of Changehouses of all 3 Shafts.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low compliment due to WTF RFA related issue.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32020" y="4251960"/>
            <a:ext cx="404622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4900" y="434340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60620" y="4709160"/>
            <a:ext cx="36347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Repair Work with Solrock Team.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Engagement/IDP sessions with SGM.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Exam with Machinery Inspector.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Dewatering Pump Test (revised to Feb 2026).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DMPR Instruction on Shafts &amp; Winders.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for Opportunity Maintenance during power outage to repair Cap-Banks.</a:t>
            </a:r>
            <a:endParaRPr lang="en-US" sz="1200" dirty="0"/>
          </a:p>
        </p:txBody>
      </p:sp>
      <p:pic>
        <p:nvPicPr>
          <p:cNvPr id="25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Nchwaning 3 Weekly Availability Trend</a:t>
            </a:r>
            <a:endParaRPr lang="en-US" sz="3200" dirty="0"/>
          </a:p>
        </p:txBody>
      </p:sp>
      <p:pic>
        <p:nvPicPr>
          <p:cNvPr id="3" name="Image 0" descr="/home/user/weekly-report-generator/public/images/Week32/N3 Weekly Availability Chart Week 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4206240"/>
          </a:xfrm>
          <a:prstGeom prst="rect">
            <a:avLst/>
          </a:prstGeom>
        </p:spPr>
      </p:pic>
      <p:pic>
        <p:nvPicPr>
          <p:cNvPr id="4" name="Image 1" descr="/home/user/weekly-report-generator/public/images/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Nchwaning 3 Performance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234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Avg.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79.8% (Target: 85%)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651760" cy="123444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40% (2/5 planned). RT 60% (3/5). All other fleets 100%.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DT-Diesel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383280"/>
            <a:ext cx="1096183" cy="320040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75688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FL-Diesel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85416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5416" y="3383280"/>
            <a:ext cx="744322" cy="3200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85616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95344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3383280"/>
            <a:ext cx="1066410" cy="3200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95544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05272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05272" y="3383280"/>
            <a:ext cx="1093476" cy="320040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5472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3383280"/>
            <a:ext cx="1258580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Breakdowns / Issues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FL-Diesel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47823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FL-Diesel 55% - FL101 steering problem. FL91 Strata/no modular contact. FL103 not starting.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55321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DT-Diesel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" y="578815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DT-Diesel 81% - DT148 aircon/mainswitch. DT131 gears/strata. DT119 gears.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0" y="47823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78.8% - HD49 airco motor leak. HD52 boom guards active. HD62 booms not drilling. HD51 no diesel.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55321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0" y="578815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80.8% - RT49 turning device. RT55 damaged. RT58 drifter oil leak. RT51 sprocket.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846320"/>
            <a:ext cx="84124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846320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919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32: Overall 79.8% below target. DT-D 81%. FL-D 55%. HD 78.8%. RT 80.8%. SR 93%.</a:t>
            </a:r>
            <a:endParaRPr lang="en-US" sz="1100" dirty="0"/>
          </a:p>
        </p:txBody>
      </p:sp>
      <p:pic>
        <p:nvPicPr>
          <p:cNvPr id="50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Nchwaning 2 Weekly Availability Trend</a:t>
            </a:r>
            <a:endParaRPr lang="en-US" sz="3200" dirty="0"/>
          </a:p>
        </p:txBody>
      </p:sp>
      <p:pic>
        <p:nvPicPr>
          <p:cNvPr id="3" name="Image 0" descr="/home/user/weekly-report-generator/public/images/Week32/N2 Weekly Availability Chart Week 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4206240"/>
          </a:xfrm>
          <a:prstGeom prst="rect">
            <a:avLst/>
          </a:prstGeom>
        </p:spPr>
      </p:pic>
      <p:pic>
        <p:nvPicPr>
          <p:cNvPr id="4" name="Image 1" descr="/home/user/weekly-report-generator/public/images/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Nchwaning 2 Performance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23444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Avg.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82.31% (Target: 85%)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651760" cy="123444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 compliance data pending.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383280"/>
            <a:ext cx="954897" cy="3200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70.56%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75688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85416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5416" y="3383280"/>
            <a:ext cx="1209455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89.37%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85616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95344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3383280"/>
            <a:ext cx="1062891" cy="3200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78.54%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95544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05272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05272" y="3383280"/>
            <a:ext cx="1250866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92.43%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5472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3383280"/>
            <a:ext cx="1171292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Breakdowns / Issues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47823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DT121 still standing - OEM (Barloworld) assistance not confirmed.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0" y="47823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HD53 - Repetitive prop shaft breakdown.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4846320"/>
            <a:ext cx="84124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846320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919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32: Data pending - chart shows Week 31 snapshot. Overall 82.31%. DT 70.56%. FL 89.37%. HD 78.54%. RT 92.43%. SR 86.55%.</a:t>
            </a:r>
            <a:endParaRPr lang="en-US" sz="1100" dirty="0"/>
          </a:p>
        </p:txBody>
      </p:sp>
      <p:pic>
        <p:nvPicPr>
          <p:cNvPr id="46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 Weekly Availability Trend</a:t>
            </a:r>
            <a:endParaRPr lang="en-US" sz="3200" dirty="0"/>
          </a:p>
        </p:txBody>
      </p:sp>
      <p:pic>
        <p:nvPicPr>
          <p:cNvPr id="3" name="Image 0" descr="/home/user/weekly-report-generator/public/images/Week32/Gloria Weekly Availability Chart Week 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4206240"/>
          </a:xfrm>
          <a:prstGeom prst="rect">
            <a:avLst/>
          </a:prstGeom>
        </p:spPr>
      </p:pic>
      <p:pic>
        <p:nvPicPr>
          <p:cNvPr id="4" name="Image 1" descr="/home/user/weekly-report-generator/public/images/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 Performance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Avg.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 (Target: 85%)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651760" cy="123444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50% (DT0105 deferred). FL 100%. HD 100%. RT 100%. Support 100%. Overall 90%.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383280"/>
            <a:ext cx="1014984" cy="3200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75688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85416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5416" y="3383280"/>
            <a:ext cx="1318126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85616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95344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3383280"/>
            <a:ext cx="1258580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95544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05272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05272" y="3383280"/>
            <a:ext cx="1223394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5472" y="2880360"/>
            <a:ext cx="1572768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0175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3383280"/>
            <a:ext cx="1353312" cy="3200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3383280"/>
            <a:ext cx="1174675" cy="3200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377647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Breakdowns / Issues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47823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DT0174 - Not selecting gears (persistent).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DT0105 - Nerospec.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846320"/>
            <a:ext cx="84124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846320"/>
            <a:ext cx="7315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919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32: Overall 88.5% above target. DT 75%. FL 97.4%. HD 93%. RT 90.4%. SR 86.8%.</a:t>
            </a:r>
            <a:endParaRPr lang="en-US" sz="1100" dirty="0"/>
          </a:p>
        </p:txBody>
      </p:sp>
      <p:pic>
        <p:nvPicPr>
          <p:cNvPr id="44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Fleet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46220" cy="15087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Availability (Wk 32)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6804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BEV: 78% (Target: 85%)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BEV: 98% (Target: 85%)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32020" y="1097280"/>
            <a:ext cx="4046220" cy="1508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1234440"/>
            <a:ext cx="3680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Service Compliance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14900" y="1600200"/>
            <a:ext cx="36804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BEV: None scheduled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BEV: None scheduled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Availability by Equipment 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BEV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315468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841248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6561734" cy="256032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19856"/>
            <a:ext cx="65617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BEV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84048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412480" cy="25603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114800"/>
            <a:ext cx="8244230" cy="25603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05656"/>
            <a:ext cx="82442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BEV &amp; Battery Themes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Breakdowns: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51663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BEV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38581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DT0171 A-frame failure (16.3% avail) - 60-day lead time, expediting to fly in.</a:t>
            </a:r>
            <a:endParaRPr lang="en-US" sz="1000" dirty="0"/>
          </a:p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DT0149 gearbox failure + electrical faults (76.3% avail). DT0162 STRATA breakdowns (72.3% avail).</a:t>
            </a:r>
            <a:endParaRPr lang="en-US" sz="1000" dirty="0"/>
          </a:p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DT0150 Strata + electrical (94.2% avail). DT0146 isolation fault on HVIL cables (Tue).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0990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BEV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318504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BEV fleet performing well with 98% average availability.</a:t>
            </a:r>
            <a:endParaRPr lang="en-US" sz="1000" dirty="0"/>
          </a:p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FL0112 HVIL fault (Sun, 23.5 hrs - resolved). FL0098 boilermaker half arrows (Mon).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8920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Battery Themes: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51663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10 ST14-B4 packs (1.6 ratio), 12 MT42-B5 packs. Charger stops investigated.</a:t>
            </a:r>
            <a:endParaRPr lang="en-US" sz="1000" dirty="0"/>
          </a:p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Aux motor spline grease campaign (only DT147 done). Post 7 CCS cables pending.</a:t>
            </a:r>
            <a:endParaRPr lang="en-US" sz="1000" dirty="0"/>
          </a:p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L9: Lab scale tests with new software. MH4.0 to be loaded on BEV machines.</a:t>
            </a:r>
            <a:endParaRPr lang="en-US" sz="1000" dirty="0"/>
          </a:p>
          <a:p>
            <a:pPr marL="203200" indent="-203200"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batteries down: VPY-00088 safe state (14d), VPX-00017 (12d), VPX-00028 pumps (4d).</a:t>
            </a:r>
            <a:endParaRPr lang="en-US" sz="1000" dirty="0"/>
          </a:p>
        </p:txBody>
      </p:sp>
      <p:pic>
        <p:nvPicPr>
          <p:cNvPr id="28" name="Image 0" descr="/home/user/weekly-report-generator/public/images/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23560"/>
            <a:ext cx="914400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2026-02-11T05:54:21Z</dcterms:created>
  <dcterms:modified xsi:type="dcterms:W3CDTF">2026-02-11T05:54:21Z</dcterms:modified>
</cp:coreProperties>
</file>